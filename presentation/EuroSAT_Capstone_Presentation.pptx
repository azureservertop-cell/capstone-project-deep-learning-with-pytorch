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EuroSAT Satellite Image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Deep Learning Capstone Project using PyTorch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13258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Final CNN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24328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92.07%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2148840"/>
            <a:ext cx="1325880" cy="731520"/>
          </a:xfrm>
          <a:prstGeom prst="rect">
            <a:avLst/>
          </a:prstGeom>
          <a:solidFill>
            <a:srgbClr val="DCFCE7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331720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Weighted 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624328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92.09%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2148840"/>
            <a:ext cx="9144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3317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24328"/>
            <a:ext cx="914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9893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4B5563"/>
                </a:solidFill>
                <a:latin typeface="Aptos"/>
              </a:rPr>
              <a:t>Jianye Chen | Fanshawe College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Task and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Classify EuroSAT satellite images into 10 land-use categories.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1280160" cy="68580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Total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280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27,000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188720"/>
            <a:ext cx="1463040" cy="685800"/>
          </a:xfrm>
          <a:prstGeom prst="rect">
            <a:avLst/>
          </a:prstGeom>
          <a:solidFill>
            <a:srgbClr val="DCFCE7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37160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Train / Val /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64208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70 / 15 /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RGB remote-sensing images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10 balanced land-use classes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Stratified split to prevent class imbalance artifacts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Test set held out until final evaluation</a:t>
            </a:r>
          </a:p>
        </p:txBody>
      </p:sp>
      <p:pic>
        <p:nvPicPr>
          <p:cNvPr id="12" name="Picture 11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822960"/>
            <a:ext cx="4846320" cy="1997222"/>
          </a:xfrm>
          <a:prstGeom prst="rect">
            <a:avLst/>
          </a:prstGeom>
        </p:spPr>
      </p:pic>
      <p:pic>
        <p:nvPicPr>
          <p:cNvPr id="13" name="Picture 12" descr="augmented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383280"/>
            <a:ext cx="4114800" cy="1946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The project follows a complete deep-learning experiment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371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ptos"/>
              </a:rPr>
              <a:t>EuroSAT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920240"/>
            <a:ext cx="1371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0848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04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ptos"/>
              </a:rPr>
              <a:t>Resize + normalize + augment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1371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0848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04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ptos"/>
              </a:rPr>
              <a:t>3-layer CNN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20240"/>
            <a:ext cx="1371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20848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304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ptos"/>
              </a:rPr>
              <a:t>Manual 3-setting 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920240"/>
            <a:ext cx="1371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20848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04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ptos"/>
              </a:rPr>
              <a:t>Metrics + confusion matrix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19" y="1920240"/>
            <a:ext cx="1371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084831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Aptos"/>
              </a:rPr>
              <a:t>Ablation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19" y="230428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4B5563"/>
                </a:solidFill>
                <a:latin typeface="Aptos"/>
              </a:rPr>
              <a:t>Test extra augmentation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The final model was selected using validation loss.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The final score was measured on a held-out test set.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Ablation results justify why extra preprocessing was not adopted.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Final Preprocessing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Simple augmentation performed best and kept the pipeline focused.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Restricted crop: RandomResizedCrop(scale=(0.8, 1.0))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Horizontal flip retained for simple orientation variation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Normalize images before training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VerticalFlip, Rotation pipeline, and ColorJitter were tested but not used</a:t>
            </a:r>
          </a:p>
        </p:txBody>
      </p:sp>
      <p:pic>
        <p:nvPicPr>
          <p:cNvPr id="6" name="Picture 5" descr="augmented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4114800" cy="19463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4892040"/>
            <a:ext cx="7132320" cy="530352"/>
          </a:xfrm>
          <a:prstGeom prst="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056632"/>
            <a:ext cx="6766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Decision: do not add preprocessing unless the ablation study shows a real improvement.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Custom CNN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Layer-by-layer operations, output sizes, and trainable parameter counts.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097280"/>
          <a:ext cx="6309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/>
                <a:gridCol w="1261872"/>
                <a:gridCol w="1261872"/>
                <a:gridCol w="1261872"/>
                <a:gridCol w="1261872"/>
              </a:tblGrid>
              <a:tr h="50292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Stage</a:t>
                      </a:r>
                    </a:p>
                  </a:txBody>
                  <a:tcPr marL="27432" marR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Operation</a:t>
                      </a:r>
                    </a:p>
                  </a:txBody>
                  <a:tcPr marL="27432" marR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Output Size</a:t>
                      </a:r>
                    </a:p>
                  </a:txBody>
                  <a:tcPr marL="27432" marR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Params</a:t>
                      </a:r>
                    </a:p>
                  </a:txBody>
                  <a:tcPr marL="27432" marR="27432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Role</a:t>
                      </a:r>
                    </a:p>
                  </a:txBody>
                  <a:tcPr marL="27432" marR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Input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RGB image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3 x 64 x 64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0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Image tensor</a:t>
                      </a:r>
                    </a:p>
                  </a:txBody>
                  <a:tcPr marL="27432" marR="27432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Block 1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Conv 3-&gt;32 + BN + ReLU + MaxPool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32 x 32 x 32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960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Low-level edges</a:t>
                      </a:r>
                    </a:p>
                  </a:txBody>
                  <a:tcPr marL="27432" marR="27432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Block 2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Conv 32-&gt;64 + BN + ReLU + MaxPool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64 x 16 x 16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18,624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Texture patterns</a:t>
                      </a:r>
                    </a:p>
                  </a:txBody>
                  <a:tcPr marL="27432" marR="27432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Block 3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Conv 64-&gt;128 + BN + ReLU + MaxPool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128 x 8 x 8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74,112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Land-use features</a:t>
                      </a:r>
                    </a:p>
                  </a:txBody>
                  <a:tcPr marL="27432" marR="27432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Flatten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Reshape features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8,192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0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Vectorize</a:t>
                      </a:r>
                    </a:p>
                  </a:txBody>
                  <a:tcPr marL="27432" marR="27432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FC1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Linear 8192-&gt;256 + ReLU + Dropout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256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2,097,408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Classifier body</a:t>
                      </a:r>
                    </a:p>
                  </a:txBody>
                  <a:tcPr marL="27432" marR="27432"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FC2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Linear 256-&gt;10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10 classes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2,570</a:t>
                      </a:r>
                    </a:p>
                  </a:txBody>
                  <a:tcPr marL="27432" marR="27432"/>
                </a:tc>
                <a:tc>
                  <a:txBody>
                    <a:bodyPr/>
                    <a:lstStyle/>
                    <a:p>
                      <a:pPr>
                        <a:defRPr sz="650"/>
                      </a:pPr>
                      <a:r>
                        <a:t>Class scores</a:t>
                      </a:r>
                    </a:p>
                  </a:txBody>
                  <a:tcPr marL="27432" marR="27432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406640" y="1097280"/>
            <a:ext cx="210312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28016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Total trainable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72768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2,193,674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2286000"/>
          <a:ext cx="2103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</a:tblGrid>
              <a:tr h="342900"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/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Conv + BN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93,696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FC1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2,097,408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FC2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2,570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3977639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F172A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224528"/>
            <a:ext cx="2514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solidFill>
                  <a:srgbClr val="4B5563"/>
                </a:solidFill>
                <a:latin typeface="Aptos"/>
              </a:rPr>
              <a:t>Most parameters are in FC1 after flattening. The convolution blocks learn spatial features; the classifier maps them to 10 land-use 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Baseline Problem: Training Setup Mattered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The first simple CNN was not bad, but the setup underperformed.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75488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371600"/>
            <a:ext cx="13258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Baseline 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847088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85.60%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1371600"/>
            <a:ext cx="1463040" cy="731520"/>
          </a:xfrm>
          <a:prstGeom prst="rect">
            <a:avLst/>
          </a:prstGeom>
          <a:solidFill>
            <a:srgbClr val="DCFCE7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55448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Incremental CNN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847088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92.07%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74320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CNN architecture stayed the same.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Crop scale was restricted to preserve global structure.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Tuning increased from 4 to 6 epochs.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Accuracy improved by +6.47 percentage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Experiment 2 was selected using lowest validation loss.</a:t>
            </a:r>
          </a:p>
        </p:txBody>
      </p:sp>
      <p:pic>
        <p:nvPicPr>
          <p:cNvPr id="5" name="Picture 4" descr="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754880" cy="2983454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89320" y="1325880"/>
          <a:ext cx="4206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248"/>
                <a:gridCol w="841248"/>
                <a:gridCol w="841248"/>
                <a:gridCol w="841248"/>
                <a:gridCol w="841248"/>
              </a:tblGrid>
              <a:tr h="388620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Exp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LR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Dropout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Val Loss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0.4675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0.4457</a:t>
                      </a:r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0.6175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80760" y="3429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Validation loss was the selection metric.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Experiment 2 gave the lowest validation loss.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Final training used LR=0.0005, batch=32, dropout=0.3.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Final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The final Custom CNN outperformed the frozen ResNet18 baseline.</a:t>
            </a:r>
          </a:p>
        </p:txBody>
      </p:sp>
      <p:pic>
        <p:nvPicPr>
          <p:cNvPr id="5" name="Picture 4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4846320" cy="298235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80760" y="1463040"/>
            <a:ext cx="1463040" cy="731520"/>
          </a:xfrm>
          <a:prstGeom prst="rect">
            <a:avLst/>
          </a:prstGeom>
          <a:solidFill>
            <a:srgbClr val="DCFCE7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164592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Final CNN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938528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92.07%</a:t>
            </a:r>
          </a:p>
        </p:txBody>
      </p:sp>
      <p:sp>
        <p:nvSpPr>
          <p:cNvPr id="9" name="Rectangle 8"/>
          <p:cNvSpPr/>
          <p:nvPr/>
        </p:nvSpPr>
        <p:spPr>
          <a:xfrm>
            <a:off x="7909560" y="1463040"/>
            <a:ext cx="146304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ResNet18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938528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82.44%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83464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ResNet18 was used as a frozen feature extractor.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Only the final classification layer was trained.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EuroSAT satellite images differ from ImageNet natural images.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Future work could unfreeze later ResNet blocks.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Final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Errors mainly occur between visually similar land-use classes.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60120"/>
            <a:ext cx="4663440" cy="46053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0876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Most classes are predicted reliably.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Remaining errors are mostly between agricultural and vegetation classes.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Linear structures such as River and Highway can also be visually similar.</a:t>
            </a:r>
          </a:p>
          <a:p>
            <a:pPr>
              <a:defRPr sz="1000">
                <a:solidFill>
                  <a:srgbClr val="0F172A"/>
                </a:solidFill>
                <a:latin typeface="Aptos"/>
              </a:defRPr>
            </a:pPr>
            <a:r>
              <a:t>• Per-class evaluation is more informative than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937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ptos"/>
              </a:rPr>
              <a:t>Final test accuracy: 92.07%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Ablation Study: More Augmentation Was Not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Extra preprocessing was tested one method at a time.</a:t>
            </a:r>
          </a:p>
        </p:txBody>
      </p:sp>
      <p:pic>
        <p:nvPicPr>
          <p:cNvPr id="5" name="Picture 4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4663440" cy="286980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97880" y="1234440"/>
          <a:ext cx="4206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420624"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Acc.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/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Final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92.07%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0.00 pp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 ColorJitter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91.48%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-0.59 pp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 VerticalFlip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89.83%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-2.25 pp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+ Rotation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67.60%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-24.47 pp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97880" y="3886200"/>
            <a:ext cx="4206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Rotation result is interpreted cautiously because the tested pipeline also included resize-and-crop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665D6"/>
          </a:solidFill>
          <a:ln>
            <a:solidFill>
              <a:srgbClr val="266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200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Aptos"/>
              </a:rPr>
              <a:t>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68096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4B5563"/>
                </a:solidFill>
                <a:latin typeface="Aptos"/>
              </a:rPr>
              <a:t>A simple 3-layer CNN achieved strong EuroSAT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1417320"/>
            <a:ext cx="1325880" cy="731520"/>
          </a:xfrm>
          <a:prstGeom prst="rect">
            <a:avLst/>
          </a:prstGeom>
          <a:solidFill>
            <a:srgbClr val="DCFCE7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92808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92.07%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417320"/>
            <a:ext cx="13258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600200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892808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92.09%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13258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600200"/>
            <a:ext cx="1325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ptos"/>
              </a:rPr>
              <a:t>Best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92808"/>
            <a:ext cx="1325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Simple aug.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43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Training setup mattered more than adding architecture complexity.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Restricted crop preserved useful satellite-image structure.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Extra augmentation was tested but not adopted.</a:t>
            </a:r>
          </a:p>
          <a:p>
            <a:pPr>
              <a:defRPr sz="1100">
                <a:solidFill>
                  <a:srgbClr val="0F172A"/>
                </a:solidFill>
                <a:latin typeface="Aptos"/>
              </a:defRPr>
            </a:pPr>
            <a:r>
              <a:t>• Future work: fine-tune ResNet18, test larger image size, add Grad-CAM, and repeat with multiple seeds.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71500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Final takeaway: more preprocessing was not automatically better; the best model used the simplest validated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28816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4B5563"/>
                </a:solidFill>
                <a:latin typeface="Aptos"/>
              </a:rPr>
              <a:t>EuroSAT Capstone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